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2563EB"/>
                </a:solidFill>
              </a:defRPr>
            </a:pPr>
            <a:r>
              <a:t>EXECUTIVE BUSINESS CASE  |  OPERATIONAL INTELLIGENCE</a:t>
            </a:r>
          </a:p>
          <a:p>
            <a:pPr>
              <a:spcAft>
                <a:spcPts val="1000"/>
              </a:spcAft>
              <a:defRPr sz="3600" b="1">
                <a:solidFill>
                  <a:srgbClr val="0F172A"/>
                </a:solidFill>
              </a:defRPr>
            </a:pPr>
            <a:r>
              <a:t>Meter Intelligence Platform</a:t>
            </a:r>
          </a:p>
          <a:p>
            <a:pPr>
              <a:spcAft>
                <a:spcPts val="2400"/>
              </a:spcAft>
              <a:defRPr sz="1800">
                <a:solidFill>
                  <a:srgbClr val="334155"/>
                </a:solidFill>
              </a:defRPr>
            </a:pPr>
            <a:r>
              <a:t>From Anomaly Detection to Confident Action: Unlocking Operational Efficiency and Revenue Protection</a:t>
            </a:r>
          </a:p>
          <a:p>
            <a:pPr>
              <a:spcAft>
                <a:spcPts val="3600"/>
              </a:spcAft>
              <a:defRPr sz="1300">
                <a:solidFill>
                  <a:srgbClr val="475569"/>
                </a:solidFill>
              </a:defRPr>
            </a:pPr>
            <a:r>
              <a:t>An explainable triage engine with automated evidence assembly, human-governed resolution, and rapid ROI.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663440"/>
            <a:ext cx="3291840" cy="10972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47548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D4ED8"/>
                </a:solidFill>
              </a:defRPr>
            </a:pPr>
            <a:r>
              <a:t>66% Triage Reduction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Cuts manual investigation from 30m to 10m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4663440"/>
            <a:ext cx="3291840" cy="10972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47548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D4ED8"/>
                </a:solidFill>
              </a:defRPr>
            </a:pPr>
            <a:r>
              <a:t>Avoided Field Dispatches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Prevents unnecessary, costly truck rolls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4663440"/>
            <a:ext cx="3291840" cy="10972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39" y="47548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D4ED8"/>
                </a:solidFill>
              </a:defRPr>
            </a:pPr>
            <a:r>
              <a:t>100% Audit Compliance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Transparent, human-owned accountability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Prepared for Executive Leadership  •  Business Case &amp; 90-Day Pilot Proposal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00">
                <a:solidFill>
                  <a:srgbClr val="2563EB"/>
                </a:solidFill>
              </a:defRPr>
            </a:pPr>
            <a:r>
              <a:t>01 /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Transforming Smart Meter Alert Spikes into Decisive Business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Moving from unmanageable alert queues to automated, evidence-backed human review.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290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103120"/>
            <a:ext cx="3063240" cy="64008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B45309"/>
                </a:solidFill>
              </a:defRPr>
            </a:pPr>
            <a:r>
              <a:t>The Current Bottleneck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26080"/>
            <a:ext cx="2971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334155"/>
                </a:solidFill>
              </a:defRPr>
            </a:pPr>
            <a:r>
              <a:t>Operations face high volumes of raw meter flags with fragmented context. Analysts spend up to 30 minutes per ticket manually pulling history, weather, and billing records.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30 min avg. triage time</a:t>
            </a:r>
            <a:br/>
            <a:r>
              <a:t>• Backlog risks and alert fatigue</a:t>
            </a:r>
            <a:br/>
            <a:r>
              <a:t>• High cost of false truck rolls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920240"/>
            <a:ext cx="34290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53712" y="2103120"/>
            <a:ext cx="3063240" cy="6400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219456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D4ED8"/>
                </a:solidFill>
              </a:defRPr>
            </a:pPr>
            <a:r>
              <a:t>The Meter Intelligence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926080"/>
            <a:ext cx="2971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334155"/>
                </a:solidFill>
              </a:defRPr>
            </a:pPr>
            <a:r>
              <a:t>An automated screening and evidence assembly platform. Synthesizes 90-day peer baselines and pre-populates actionable case dossiers in seconds—leaving final judgment to associates.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3σ peer-slot baseline filter</a:t>
            </a:r>
            <a:br/>
            <a:r>
              <a:t>• Automated evidence collation</a:t>
            </a:r>
            <a:br/>
            <a:r>
              <a:t>• 100% human-governed 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920240"/>
            <a:ext cx="34290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93024" y="2103120"/>
            <a:ext cx="3063240" cy="64008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219456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47857"/>
                </a:solidFill>
              </a:defRPr>
            </a:pPr>
            <a:r>
              <a:t>The Expected Business ROI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2926080"/>
            <a:ext cx="2971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334155"/>
                </a:solidFill>
              </a:defRPr>
            </a:pPr>
            <a:r>
              <a:t>Returns ~333 operational hours per 1,000 cases, eliminates avoidable field dispatches ($150-$250/truck roll), accelerates dispute resolution, and secures unbilled revenue.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66% triage efficiency gain</a:t>
            </a:r>
            <a:br/>
            <a:r>
              <a:t>• Capacity returned: ~333 hrs/1k</a:t>
            </a:r>
            <a:br/>
            <a:r>
              <a:t>• Rapid 90-day pilot validation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00">
                <a:solidFill>
                  <a:srgbClr val="2563EB"/>
                </a:solidFill>
              </a:defRPr>
            </a:pPr>
            <a:r>
              <a:t>02 / BUSINESS PROBLEM &amp; DRIVERS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The High Cost of Inaction in Smart Meter Anomaly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Unfiltered meter signals create severe operational drag, unnecessary truck rolls, and billing exposure.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578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</a:defRPr>
            </a:pPr>
            <a:r>
              <a:t>1. Operational Drag &amp; Triage Fatigue</a:t>
            </a:r>
          </a:p>
          <a:p>
            <a:pPr>
              <a:spcAft>
                <a:spcPts val="600"/>
              </a:spcAft>
              <a:defRPr b="1" sz="1200">
                <a:solidFill>
                  <a:srgbClr val="2563EB"/>
                </a:solidFill>
              </a:defRPr>
            </a:pPr>
            <a:r>
              <a:t>30+ minutes wasted per anomaly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Analysts juggle 4-5 legacy portals (AMI data, CIS billing, CRM, weather) just to determine if a spike is legitimate or benign.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920240"/>
            <a:ext cx="52578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0312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</a:defRPr>
            </a:pPr>
            <a:r>
              <a:t>2. Avoidable Field Dispatches</a:t>
            </a:r>
          </a:p>
          <a:p>
            <a:pPr>
              <a:spcAft>
                <a:spcPts val="600"/>
              </a:spcAft>
              <a:defRPr b="1" sz="1200">
                <a:solidFill>
                  <a:srgbClr val="2563EB"/>
                </a:solidFill>
              </a:defRPr>
            </a:pPr>
            <a:r>
              <a:t>$150 – $250 per wasted truck roll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Prematurely escalating unvalidated meter anomalies to field teams wastes substantial fleet budget on non-faulty meters.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2578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29768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</a:defRPr>
            </a:pPr>
            <a:r>
              <a:t>3. Delayed Dispute &amp; Billing Resolution</a:t>
            </a:r>
          </a:p>
          <a:p>
            <a:pPr>
              <a:spcAft>
                <a:spcPts val="600"/>
              </a:spcAft>
              <a:defRPr b="1" sz="1200">
                <a:solidFill>
                  <a:srgbClr val="2563EB"/>
                </a:solidFill>
              </a:defRPr>
            </a:pPr>
            <a:r>
              <a:t>Customer dissatisfaction &amp; bill shock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Undetected anomalies fester until monthly billing, generating high-friction customer complaints and ombudsman escalations.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114800"/>
            <a:ext cx="52578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29768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</a:defRPr>
            </a:pPr>
            <a:r>
              <a:t>4. Scalability Bottleneck</a:t>
            </a:r>
          </a:p>
          <a:p>
            <a:pPr>
              <a:spcAft>
                <a:spcPts val="600"/>
              </a:spcAft>
              <a:defRPr b="1" sz="1200">
                <a:solidFill>
                  <a:srgbClr val="2563EB"/>
                </a:solidFill>
              </a:defRPr>
            </a:pPr>
            <a:r>
              <a:t>Alert volume outpaces headcount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As smart meter rollouts expand, manual investigation cannot scale linearly without ballooning back-office labor expenditure.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00">
                <a:solidFill>
                  <a:srgbClr val="2563EB"/>
                </a:solidFill>
              </a:defRPr>
            </a:pPr>
            <a:r>
              <a:t>03 / STRATEGIC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An Explainable, Closed-Loop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Automating raw data synthesis so operations teams make faster, higher-confidence decisions.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290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194560"/>
            <a:ext cx="2880360" cy="7315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028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D4ED8"/>
                </a:solidFill>
              </a:defRPr>
            </a:pPr>
            <a:r>
              <a:t>DETECT</a:t>
            </a:r>
          </a:p>
          <a:p>
            <a:pPr>
              <a:defRPr sz="1000">
                <a:solidFill>
                  <a:srgbClr val="1D4ED8"/>
                </a:solidFill>
              </a:defRPr>
            </a:pPr>
            <a:r>
              <a:t>Transparent Screening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08960"/>
            <a:ext cx="2880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Filters raw 4-hour telemetry using a 90-day same-slot peer baseline (mean + 3σ).</a:t>
            </a:r>
            <a:br/>
            <a:br/>
            <a:r>
              <a:t>Eliminates seasonal &amp; time-of-day bias before alerts ever hit the queue.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920240"/>
            <a:ext cx="34290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45152" y="2194560"/>
            <a:ext cx="288036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224028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F172A"/>
                </a:solidFill>
              </a:defRPr>
            </a:pPr>
            <a:r>
              <a:t>INVESTIGATE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AI-Assisted Dossier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3108960"/>
            <a:ext cx="2880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Automatically synthesizes peer baseline, continuity checks, meter status, and billing markers into an explainable case summary.</a:t>
            </a:r>
            <a:br/>
            <a:br/>
            <a:r>
              <a:t>Zeros out manual prep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920240"/>
            <a:ext cx="34290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84464" y="2194560"/>
            <a:ext cx="2880360" cy="73152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75904" y="224028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47857"/>
                </a:solidFill>
              </a:defRPr>
            </a:pPr>
            <a:r>
              <a:t>RESOLVE</a:t>
            </a:r>
          </a:p>
          <a:p>
            <a:pPr>
              <a:defRPr sz="1000">
                <a:solidFill>
                  <a:srgbClr val="047857"/>
                </a:solidFill>
              </a:defRPr>
            </a:pPr>
            <a:r>
              <a:t>Human-in-the-Loop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3108960"/>
            <a:ext cx="2880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Associates review enriched evidence, confirm root cause, and dispatch field actions or billing adjustments.</a:t>
            </a:r>
            <a:br/>
            <a:br/>
            <a:r>
              <a:t>Maintains 100% human accountability.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00">
                <a:solidFill>
                  <a:srgbClr val="2563EB"/>
                </a:solidFill>
              </a:defRPr>
            </a:pPr>
            <a:r>
              <a:t>04 / ENTERPRISE ARCHITECTURE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Governed, Secure, and Audit-Ready from Day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Clear separation between system evidence, automated reasoning, and associate-owned resolution.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057400" cy="11887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18745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D4ED8"/>
                </a:solidFill>
              </a:defRPr>
            </a:pPr>
            <a:r>
              <a:t>1. INGEST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4-hour meter reads &amp; consumption logs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1" y="1828800"/>
            <a:ext cx="2057400" cy="11887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9231" y="1920240"/>
            <a:ext cx="18745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D4ED8"/>
                </a:solidFill>
              </a:defRPr>
            </a:pPr>
            <a:r>
              <a:t>2. SCREEN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Statistical 3σ peer-slot baseline filter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1828800"/>
            <a:ext cx="2057400" cy="11887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75504" y="1920240"/>
            <a:ext cx="18745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D4ED8"/>
                </a:solidFill>
              </a:defRPr>
            </a:pPr>
            <a:r>
              <a:t>3. ENRICH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Billing, meter health &amp; continuity checks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1828800"/>
            <a:ext cx="2057400" cy="11887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51776" y="1920240"/>
            <a:ext cx="18745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D4ED8"/>
                </a:solidFill>
              </a:defRPr>
            </a:pPr>
            <a:r>
              <a:t>4. PRESENT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Unified case dossier in analyst queue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1828800"/>
            <a:ext cx="2057400" cy="11887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28048" y="1920240"/>
            <a:ext cx="18745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47857"/>
                </a:solidFill>
              </a:defRPr>
            </a:pPr>
            <a:r>
              <a:t>5. RESOLVE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Associate decision, audit trail &amp; ERP update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91840"/>
            <a:ext cx="34290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291840"/>
            <a:ext cx="137160" cy="2926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47472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0F172A"/>
                </a:solidFill>
              </a:defRPr>
            </a:pPr>
            <a:r>
              <a:t>No Black-Box Hallucinations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Rules are strictly data-grounded, deterministic, and version-controlled. If a data source is missing, the system explicitly reports 'needs-data' rather than guessing.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0832" y="3291840"/>
            <a:ext cx="34290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70832" y="3291840"/>
            <a:ext cx="137160" cy="2926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45152" y="347472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0F172A"/>
                </a:solidFill>
              </a:defRPr>
            </a:pPr>
            <a:r>
              <a:t>Immutable Audit Trail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Raw meter telemetry, system calculations, and associate notes remain strictly partitioned. Every status update, override, and disposition is logged for compliance.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10144" y="3291840"/>
            <a:ext cx="34290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10144" y="3291840"/>
            <a:ext cx="137160" cy="292608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84464" y="347472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0F172A"/>
                </a:solidFill>
              </a:defRPr>
            </a:pPr>
            <a:r>
              <a:t>Role-Based Security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Built with enterprise security in mind: Row-Level Security (RLS), server-side protected credentials, and feature-gated write workflows.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00">
                <a:solidFill>
                  <a:srgbClr val="2563EB"/>
                </a:solidFill>
              </a:defRPr>
            </a:pPr>
            <a:r>
              <a:t>05 / QUANTIFIED 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Measurable ROI: Labor Optimization, Field Savings &amp; Revenue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Tangible capacity returned to operations and substantial hard cost avoidance.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5603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2563EB"/>
                </a:solidFill>
              </a:defRPr>
            </a:pPr>
            <a:r>
              <a:t>333 HOURS</a:t>
            </a:r>
          </a:p>
          <a:p>
            <a:pPr>
              <a:spcAft>
                <a:spcPts val="400"/>
              </a:spcAft>
              <a:defRPr b="1" sz="1100">
                <a:solidFill>
                  <a:srgbClr val="334155"/>
                </a:solidFill>
              </a:defRPr>
            </a:pPr>
            <a:r>
              <a:t>Labor Returned / 1k Cases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20 minutes saved per anomaly investigation (from 30m down to 10m).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920240"/>
            <a:ext cx="25603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20116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~2.0 FTE</a:t>
            </a:r>
          </a:p>
          <a:p>
            <a:pPr>
              <a:spcAft>
                <a:spcPts val="400"/>
              </a:spcAft>
              <a:defRPr b="1" sz="1100">
                <a:solidFill>
                  <a:srgbClr val="334155"/>
                </a:solidFill>
              </a:defRPr>
            </a:pPr>
            <a:r>
              <a:t>Operational Capacity Unlocked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Equivalent to freeing 2 dedicated staff for every 10k alerts handled annually.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920240"/>
            <a:ext cx="25603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20116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047857"/>
                </a:solidFill>
              </a:defRPr>
            </a:pPr>
            <a:r>
              <a:t>15% - 25%</a:t>
            </a:r>
          </a:p>
          <a:p>
            <a:pPr>
              <a:spcAft>
                <a:spcPts val="400"/>
              </a:spcAft>
              <a:defRPr b="1" sz="1100">
                <a:solidFill>
                  <a:srgbClr val="334155"/>
                </a:solidFill>
              </a:defRPr>
            </a:pPr>
            <a:r>
              <a:t>Avoided Truck Rolls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Pre-validation stops unnecessary field dispatches, saving $150-$250 per run.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920240"/>
            <a:ext cx="25603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3416" y="20116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2563EB"/>
                </a:solidFill>
              </a:defRPr>
            </a:pPr>
            <a:r>
              <a:t>&lt; 24 HOURS</a:t>
            </a:r>
          </a:p>
          <a:p>
            <a:pPr>
              <a:spcAft>
                <a:spcPts val="400"/>
              </a:spcAft>
              <a:defRPr b="1" sz="1100">
                <a:solidFill>
                  <a:srgbClr val="334155"/>
                </a:solidFill>
              </a:defRPr>
            </a:pPr>
            <a:r>
              <a:t>Accelerated Dispute Cycle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Proactive anomaly detection resolves billing friction before customer invoices generate.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10728655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114800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200">
                <a:solidFill>
                  <a:srgbClr val="2563EB"/>
                </a:solidFill>
              </a:defRPr>
            </a:pPr>
            <a:r>
              <a:t>EXECUTIVE VALUE FRAMEWORK: THREE LEVERS OF IMPACT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1. Direct Labor Savings: Automated evidence aggregation reduces investigative drag by 66%, allowing existing headcount to absorb smart meter fleet expansion without adding staff.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2. Fleet Cost Avoidance: Filtering false alarms stops unnecessary truck rolls. Eliminating just 100 unwarranted field visits recovers $18,000–$25,000 in direct fleet expenses.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3. Revenue Protection &amp; Brand Trust: Rapid identification of faulty meters or under-registration prevents unbilled revenue leakage while averting high-conflict customer billing disputes.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00">
                <a:solidFill>
                  <a:srgbClr val="2563EB"/>
                </a:solidFill>
              </a:defRPr>
            </a:pPr>
            <a:r>
              <a:t>06 / OPERATIONAL 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What the Operations Team Sees: The Unified Case Dossier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Replacing 5 disconnected systems with one clear, evidence-rich decision screen.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9436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103120"/>
            <a:ext cx="5577840" cy="5486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945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1D4ED8"/>
                </a:solidFill>
              </a:defRPr>
            </a:pPr>
            <a:r>
              <a:t>HIGH PRIORITY ALERT: MTR-9824 • USAGE SPIKE (+4.2σ)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5577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Statistical Trigger: Read: 18.4 kWh @ 16:00 | 90-day baseline: 4.2 kWh (Threshold: 11.8 kWh)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Continuity Check: PASS — Continuous telemetry received for last 273 consecutive days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Meter Health Status: ACTIVE — Zero hardware tamper or low-battery diagnostic codes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Billing Context: Within normal budget bracket; previous month paid on time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Recommended Action: Confirm tenant equipment addition before scheduling field dispatch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1920240"/>
            <a:ext cx="455371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2194560"/>
            <a:ext cx="4114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300">
                <a:solidFill>
                  <a:srgbClr val="2563EB"/>
                </a:solidFill>
              </a:defRPr>
            </a:pPr>
            <a:r>
              <a:t>OPERATIONAL LIFT FOR ANALYSTS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• Single-Pane-of-Glass: No more toggling between AMI, billing databases, and CRM portals. All relevant context is pre-fetched and packaged.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• Prescriptive Guidance: The platform surfaces recommended next actions, enabling junior associates to execute with senior-level accuracy.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• Full Associate Ownership: Associate controls the ticket disposition: Validate, Dispatch Field Tech, Adjust Billing, or Mark Inconclusive.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• Structured Collaboration: Notes and comments remain attached to the case history, ensuring continuous institutional learning.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00">
                <a:solidFill>
                  <a:srgbClr val="2563EB"/>
                </a:solidFill>
              </a:defRPr>
            </a:pPr>
            <a:r>
              <a:t>07 / PILOT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Targeted KPIs to Validate Lift During 90-Day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Rigorous measurement against a baseline cohort before full fleet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5603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103120"/>
            <a:ext cx="2194560" cy="4572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1D4ED8"/>
                </a:solidFill>
              </a:defRPr>
            </a:pPr>
            <a:r>
              <a:t>TRIAGE SPEED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047857"/>
                </a:solidFill>
              </a:defRPr>
            </a:pPr>
            <a:r>
              <a:t>&lt; 10 Mins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49039"/>
            <a:ext cx="2194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Baseline: 30 mins</a:t>
            </a:r>
            <a:br/>
            <a:r>
              <a:t>Reduction of ~66% in analyst handling time per anomaly.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920240"/>
            <a:ext cx="25603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39312" y="2103120"/>
            <a:ext cx="2194560" cy="4572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5032" y="214884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1D4ED8"/>
                </a:solidFill>
              </a:defRPr>
            </a:pPr>
            <a:r>
              <a:t>PRECISION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83464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047857"/>
                </a:solidFill>
              </a:defRPr>
            </a:pPr>
            <a:r>
              <a:t>&gt; 85%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3749039"/>
            <a:ext cx="2194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Candidate Actionability</a:t>
            </a:r>
            <a:br/>
            <a:r>
              <a:t>% of flagged reads verified as true operational exceptions.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920240"/>
            <a:ext cx="25603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64224" y="2103120"/>
            <a:ext cx="2194560" cy="4572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214884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1D4ED8"/>
                </a:solidFill>
              </a:defRPr>
            </a:pPr>
            <a:r>
              <a:t>AVOIDED TRUCKS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283464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047857"/>
                </a:solidFill>
              </a:defRPr>
            </a:pPr>
            <a:r>
              <a:t>20% - 30%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3749039"/>
            <a:ext cx="2194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Dispatch Reduction</a:t>
            </a:r>
            <a:br/>
            <a:r>
              <a:t>Reduction in zero-fault truck rolls through pre-investigation.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06256" y="1920240"/>
            <a:ext cx="25603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89136" y="2103120"/>
            <a:ext cx="2194560" cy="4572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34856" y="214884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1D4ED8"/>
                </a:solidFill>
              </a:defRPr>
            </a:pPr>
            <a:r>
              <a:t>FIRST-TOUCH RESOLUTION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89136" y="283464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047857"/>
                </a:solidFill>
              </a:defRPr>
            </a:pPr>
            <a:r>
              <a:t>&gt; 75%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3749039"/>
            <a:ext cx="2194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Disposed in 1 Review</a:t>
            </a:r>
            <a:br/>
            <a:r>
              <a:t>Cases resolved without secondary re-opens or customer escalations.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00">
                <a:solidFill>
                  <a:srgbClr val="2563EB"/>
                </a:solidFill>
              </a:defRPr>
            </a:pPr>
            <a:r>
              <a:t>08 / 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A De-Risked, Staged Rollout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Structured milestones ensuring operational stability, user adoption, and verified economics.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290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103120"/>
            <a:ext cx="3063240" cy="82296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2880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D4ED8"/>
                </a:solidFill>
              </a:defRPr>
            </a:pPr>
            <a:r>
              <a:t>PHASE 1: HARDEN &amp; CONNECT</a:t>
            </a:r>
          </a:p>
          <a:p>
            <a:pPr>
              <a:defRPr sz="1050">
                <a:solidFill>
                  <a:srgbClr val="1D4ED8"/>
                </a:solidFill>
              </a:defRPr>
            </a:pPr>
            <a:r>
              <a:t>Weeks 1 –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108960"/>
            <a:ext cx="2971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34155"/>
                </a:solidFill>
              </a:defRPr>
            </a:pPr>
            <a:r>
              <a:t>• Connect live AMI telemetry &amp; billing feeds</a:t>
            </a:r>
            <a:br/>
            <a:r>
              <a:t>• Configure enterprise SSO &amp; Row-Level Security</a:t>
            </a:r>
            <a:br/>
            <a:r>
              <a:t>• Establish pre-pilot operational baselines</a:t>
            </a:r>
            <a:br/>
            <a:r>
              <a:t>• Deliver 2-hour associate training workshop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920240"/>
            <a:ext cx="34290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53712" y="2103120"/>
            <a:ext cx="3063240" cy="82296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2148840"/>
            <a:ext cx="2880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B45309"/>
                </a:solidFill>
              </a:defRPr>
            </a:pPr>
            <a:r>
              <a:t>PHASE 2: 90-DAY PILOT</a:t>
            </a:r>
          </a:p>
          <a:p>
            <a:pPr>
              <a:defRPr sz="1050">
                <a:solidFill>
                  <a:srgbClr val="B45309"/>
                </a:solidFill>
              </a:defRPr>
            </a:pPr>
            <a:r>
              <a:t>Weeks 5 – 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3108960"/>
            <a:ext cx="2971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34155"/>
                </a:solidFill>
              </a:defRPr>
            </a:pPr>
            <a:r>
              <a:t>• Deploy with a dedicated cohort of 5–8 analysts</a:t>
            </a:r>
            <a:br/>
            <a:r>
              <a:t>• Run parallel comparison against standard triage</a:t>
            </a:r>
            <a:br/>
            <a:r>
              <a:t>• Capture override rates, actual time-to-disposition, and truck roll deferrals</a:t>
            </a:r>
            <a:br/>
            <a:r>
              <a:t>• Weekly sprint reviews with operations leadership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920240"/>
            <a:ext cx="34290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93024" y="2103120"/>
            <a:ext cx="3063240" cy="82296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2148840"/>
            <a:ext cx="2880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47857"/>
                </a:solidFill>
              </a:defRPr>
            </a:pPr>
            <a:r>
              <a:t>PHASE 3: ENTERPRISE SCALE</a:t>
            </a:r>
          </a:p>
          <a:p>
            <a:pPr>
              <a:defRPr sz="1050">
                <a:solidFill>
                  <a:srgbClr val="047857"/>
                </a:solidFill>
              </a:defRPr>
            </a:pPr>
            <a:r>
              <a:t>Weeks 17+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3108960"/>
            <a:ext cx="2971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34155"/>
                </a:solidFill>
              </a:defRPr>
            </a:pPr>
            <a:r>
              <a:t>• Roll out across full utility meter footprint</a:t>
            </a:r>
            <a:br/>
            <a:r>
              <a:t>• Automate bidirectional ERP/CRM work orders</a:t>
            </a:r>
            <a:br/>
            <a:r>
              <a:t>• Expand weather &amp; external grid enrichment feeds</a:t>
            </a:r>
            <a:br/>
            <a:r>
              <a:t>• Transition to ongoing operations &amp; SLA tracking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00">
                <a:solidFill>
                  <a:srgbClr val="2563EB"/>
                </a:solidFill>
              </a:defRPr>
            </a:pPr>
            <a:r>
              <a:t>09 / EXECUTIVE DECISION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Decision Request: Sponsor the 90-Day Operational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Clear mandate, defined resource commitments, and zero operational disruption.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2563EB"/>
                </a:solidFill>
              </a:defRPr>
            </a:pPr>
            <a:r>
              <a:t>THE DECISION ASK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✔ Sponsor a 90-Day Pilot Cohort: Authorize a controlled pilot with 5–8 operations analysts focusing on a designated smart meter district.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✔ Approve Data Access Connections: Grant read-only API access to AMI telemetry, CIS billing markers, and existing CRM ticketing.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✔ Designate an Operations Lead: Appoint a single operational point-of-contact to review bi-weekly progress and validate scorecard metrics.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✔ Zero Disruption Guarantee: The platform runs in parallel with existing ticketing. Existing workflows remain untouched until pilot benchmarks are proven.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920240"/>
            <a:ext cx="4967935" cy="4389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194560"/>
            <a:ext cx="4389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400">
                <a:solidFill>
                  <a:srgbClr val="1D4ED8"/>
                </a:solidFill>
              </a:defRPr>
            </a:pPr>
            <a:r>
              <a:t>WHY APPROVE TODAY?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★ Immediate Capacity Lift: Relieve front-line alert fatigue and recapture up to 333 hours per 1,000 cases.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★ Direct Budget Protection: Curtail unwarranted field dispatches and stop revenue loss from unaddressed meter anomalies.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★ Auditable Governance: Deliver compliant, human-supervised AI with zero hallucination exposure and complete audit transparency.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★ Low-Risk Validation: Full pilot validation without replacing legacy systems or risking customer operations.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